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embeddedFontLst>
    <p:embeddedFont>
      <p:font typeface="DM Sans"/>
      <p:regular r:id="rId201314"/>
    </p:embeddedFont>
    <p:embeddedFont>
      <p:font typeface="DM Sans Bold"/>
      <p:regular r:id="rId201315"/>
    </p:embeddedFont>
    <p:embeddedFont>
      <p:font typeface="PT Serif Bold"/>
      <p:regular r:id="rId201316"/>
    </p:embeddedFont>
    <p:embeddedFont>
      <p:font typeface="PT Serif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svg"/><Relationship Id="rId4" Type="http://schemas.openxmlformats.org/officeDocument/2006/relationships/image" Target="../media/image-2-4.png"/><Relationship Id="rId5" Type="http://schemas.openxmlformats.org/officeDocument/2006/relationships/image" Target="../media/image-2-5.svg"/><Relationship Id="rId6" Type="http://schemas.openxmlformats.org/officeDocument/2006/relationships/image" Target="../media/image-2-4.png"/><Relationship Id="rId7" Type="http://schemas.openxmlformats.org/officeDocument/2006/relationships/image" Target="../media/image-2-5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1.png"/><Relationship Id="rId4" Type="http://schemas.openxmlformats.org/officeDocument/2006/relationships/image" Target="../media/image-7-2.svg"/><Relationship Id="rId5" Type="http://schemas.openxmlformats.org/officeDocument/2006/relationships/image" Target="../media/image-7-1.png"/><Relationship Id="rId6" Type="http://schemas.openxmlformats.org/officeDocument/2006/relationships/image" Target="../media/image-7-2.svg"/><Relationship Id="rId7" Type="http://schemas.openxmlformats.org/officeDocument/2006/relationships/image" Target="../media/image-7-1.png"/><Relationship Id="rId8" Type="http://schemas.openxmlformats.org/officeDocument/2006/relationships/image" Target="../media/image-7-2.svg"/><Relationship Id="rId9" Type="http://schemas.openxmlformats.org/officeDocument/2006/relationships/image" Target="../media/image-7-1.png"/><Relationship Id="rId10" Type="http://schemas.openxmlformats.org/officeDocument/2006/relationships/image" Target="../media/image-7-2.svg"/><Relationship Id="rId11" Type="http://schemas.openxmlformats.org/officeDocument/2006/relationships/image" Target="../media/image-7-1.png"/><Relationship Id="rId12" Type="http://schemas.openxmlformats.org/officeDocument/2006/relationships/image" Target="../media/image-7-2.svg"/><Relationship Id="rId13" Type="http://schemas.openxmlformats.org/officeDocument/2006/relationships/image" Target="../media/image-7-13.png"/><Relationship Id="rId14" Type="http://schemas.openxmlformats.org/officeDocument/2006/relationships/image" Target="../media/image-7-14.svg"/><Relationship Id="rId15" Type="http://schemas.openxmlformats.org/officeDocument/2006/relationships/image" Target="../media/image-7-15.png"/><Relationship Id="rId16" Type="http://schemas.openxmlformats.org/officeDocument/2006/relationships/slideLayout" Target="../slideLayouts/slideLayout2.xml"/><Relationship Id="rId1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806700"/>
            <a:ext cx="10868745" cy="11126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Cooperative-Owned Digital Marketplace for Skilled Services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661475" y="4039096"/>
            <a:ext cx="11478330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04F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Connect • Verify • Match • Book • Pay • Protect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661475" y="4321671"/>
            <a:ext cx="10868745" cy="12700"/>
          </a:xfrm>
          <a:prstGeom prst="roundRect">
            <a:avLst>
              <a:gd name="adj" fmla="val 49999"/>
            </a:avLst>
          </a:prstGeom>
          <a:solidFill>
            <a:srgbClr val="383838">
              <a:alpha val="50000"/>
            </a:srgb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71835"/>
            <a:ext cx="10868745" cy="496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 digital service network built around cooperative workers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661475" y="1609923"/>
            <a:ext cx="11478330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SkillSetu connects cooperative-owned skilled workforce with local service demand through a structured digital marketplace.</a:t>
            </a:r>
            <a:endParaRPr lang="en-US" sz="11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0272" y="2099667"/>
            <a:ext cx="3750375" cy="3750469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24679" y="2245420"/>
            <a:ext cx="5811791" cy="927199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971133" y="2415679"/>
            <a:ext cx="5395083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Customers</a:t>
            </a:r>
            <a:endParaRPr lang="en-US" sz="1550" dirty="0"/>
          </a:p>
        </p:txBody>
      </p:sp>
      <p:sp>
        <p:nvSpPr>
          <p:cNvPr id="7" name="Text 3"/>
          <p:cNvSpPr/>
          <p:nvPr/>
        </p:nvSpPr>
        <p:spPr>
          <a:xfrm>
            <a:off x="5971133" y="2784673"/>
            <a:ext cx="5395083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Households and institutions needing skilled services</a:t>
            </a:r>
            <a:endParaRPr lang="en-US" sz="11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24679" y="3293566"/>
            <a:ext cx="5811791" cy="1144885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971133" y="3463826"/>
            <a:ext cx="5395083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Workers</a:t>
            </a:r>
            <a:endParaRPr lang="en-US" sz="1550" dirty="0"/>
          </a:p>
        </p:txBody>
      </p:sp>
      <p:sp>
        <p:nvSpPr>
          <p:cNvPr id="10" name="Text 5"/>
          <p:cNvSpPr/>
          <p:nvPr/>
        </p:nvSpPr>
        <p:spPr>
          <a:xfrm>
            <a:off x="5971133" y="3832820"/>
            <a:ext cx="5395083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Verified electricians, plumbers, carpenters, painters, caregivers, drivers, gardeners, cleaners, and technicians</a:t>
            </a:r>
            <a:endParaRPr lang="en-US" sz="11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724679" y="4559399"/>
            <a:ext cx="5811791" cy="1144885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5971133" y="4729659"/>
            <a:ext cx="5395083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Cooperatives</a:t>
            </a:r>
            <a:endParaRPr lang="en-US" sz="1550" dirty="0"/>
          </a:p>
        </p:txBody>
      </p:sp>
      <p:sp>
        <p:nvSpPr>
          <p:cNvPr id="13" name="Text 7"/>
          <p:cNvSpPr/>
          <p:nvPr/>
        </p:nvSpPr>
        <p:spPr>
          <a:xfrm>
            <a:off x="5971133" y="5098653"/>
            <a:ext cx="5395083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Federations and societies that verify workers, manage workforce, and oversee the service ecosystem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91245"/>
            <a:ext cx="10868745" cy="620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9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The current service ecosystem is fragmented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661475" y="1589484"/>
            <a:ext cx="5339820" cy="1406327"/>
          </a:xfrm>
          <a:prstGeom prst="roundRect">
            <a:avLst>
              <a:gd name="adj" fmla="val 2016"/>
            </a:avLst>
          </a:prstGeom>
          <a:solidFill>
            <a:srgbClr val="F2EEEE"/>
          </a:solidFill>
          <a:ln/>
        </p:spPr>
      </p:sp>
      <p:sp>
        <p:nvSpPr>
          <p:cNvPr id="4" name="Text 2"/>
          <p:cNvSpPr/>
          <p:nvPr/>
        </p:nvSpPr>
        <p:spPr>
          <a:xfrm>
            <a:off x="850482" y="1778496"/>
            <a:ext cx="4961806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01 — Discovery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850482" y="2201962"/>
            <a:ext cx="496180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Customers struggle to find the right skilled local worker without a structured channel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190301" y="1589484"/>
            <a:ext cx="5339919" cy="1406327"/>
          </a:xfrm>
          <a:prstGeom prst="roundRect">
            <a:avLst>
              <a:gd name="adj" fmla="val 2016"/>
            </a:avLst>
          </a:prstGeom>
          <a:solidFill>
            <a:srgbClr val="F2EEEE"/>
          </a:solidFill>
          <a:ln/>
        </p:spPr>
      </p:sp>
      <p:sp>
        <p:nvSpPr>
          <p:cNvPr id="7" name="Text 5"/>
          <p:cNvSpPr/>
          <p:nvPr/>
        </p:nvSpPr>
        <p:spPr>
          <a:xfrm>
            <a:off x="6379308" y="1778496"/>
            <a:ext cx="4961905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02 — Verification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6379308" y="2201962"/>
            <a:ext cx="496190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Worker identity, skills, and certifications lack a unified marketplace representation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61475" y="3184823"/>
            <a:ext cx="5339820" cy="1406327"/>
          </a:xfrm>
          <a:prstGeom prst="roundRect">
            <a:avLst>
              <a:gd name="adj" fmla="val 2016"/>
            </a:avLst>
          </a:prstGeom>
          <a:solidFill>
            <a:srgbClr val="F2EEEE"/>
          </a:solidFill>
          <a:ln/>
        </p:spPr>
      </p:sp>
      <p:sp>
        <p:nvSpPr>
          <p:cNvPr id="10" name="Text 8"/>
          <p:cNvSpPr/>
          <p:nvPr/>
        </p:nvSpPr>
        <p:spPr>
          <a:xfrm>
            <a:off x="850482" y="3373834"/>
            <a:ext cx="4961806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03 — Coordination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850482" y="3797300"/>
            <a:ext cx="496180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Availability and scheduling depend on calls, messaging, and manual coordination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190301" y="3184823"/>
            <a:ext cx="5339919" cy="1406327"/>
          </a:xfrm>
          <a:prstGeom prst="roundRect">
            <a:avLst>
              <a:gd name="adj" fmla="val 2016"/>
            </a:avLst>
          </a:prstGeom>
          <a:solidFill>
            <a:srgbClr val="F2EEEE"/>
          </a:solidFill>
          <a:ln/>
        </p:spPr>
      </p:sp>
      <p:sp>
        <p:nvSpPr>
          <p:cNvPr id="13" name="Text 11"/>
          <p:cNvSpPr/>
          <p:nvPr/>
        </p:nvSpPr>
        <p:spPr>
          <a:xfrm>
            <a:off x="6379308" y="3373834"/>
            <a:ext cx="4961905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04 — Worker Support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6379308" y="3797300"/>
            <a:ext cx="496190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Payments, welfare, insurance, and dispute handling lack a structured mechanism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61475" y="4992787"/>
            <a:ext cx="5203794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Current State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661475" y="5491857"/>
            <a:ext cx="581337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Worker → phone calls / word of mouth → Customer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6196651" y="4803775"/>
            <a:ext cx="5476043" cy="1462980"/>
          </a:xfrm>
          <a:prstGeom prst="roundRect">
            <a:avLst>
              <a:gd name="adj" fmla="val 1938"/>
            </a:avLst>
          </a:prstGeom>
          <a:solidFill>
            <a:srgbClr val="E04F00"/>
          </a:solidFill>
          <a:ln/>
        </p:spPr>
      </p:sp>
      <p:sp>
        <p:nvSpPr>
          <p:cNvPr id="18" name="Text 16"/>
          <p:cNvSpPr/>
          <p:nvPr/>
        </p:nvSpPr>
        <p:spPr>
          <a:xfrm>
            <a:off x="6385658" y="4992787"/>
            <a:ext cx="5098029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With SkillSetu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6385658" y="5491857"/>
            <a:ext cx="509802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Structured platform → Verified match → Service → Payment → Feedback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80827"/>
            <a:ext cx="10868745" cy="1054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SkillSetu turns fragmented coordination into one structured workflow</a:t>
            </a:r>
            <a:endParaRPr lang="en-US" sz="33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908175"/>
            <a:ext cx="5434373" cy="642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106" y="2687340"/>
            <a:ext cx="5113110" cy="263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Customer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822106" y="3032720"/>
            <a:ext cx="5113110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Request → Select time → Confirm → Pay → Rate</a:t>
            </a:r>
            <a:endParaRPr lang="en-US" sz="12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848" y="1908175"/>
            <a:ext cx="5434373" cy="6426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256479" y="2687340"/>
            <a:ext cx="5113110" cy="263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SkillSetu Intelligence</a:t>
            </a:r>
            <a:endParaRPr lang="en-US" sz="1650" dirty="0"/>
          </a:p>
        </p:txBody>
      </p:sp>
      <p:sp>
        <p:nvSpPr>
          <p:cNvPr id="8" name="Text 4"/>
          <p:cNvSpPr/>
          <p:nvPr/>
        </p:nvSpPr>
        <p:spPr>
          <a:xfrm>
            <a:off x="6256479" y="3032720"/>
            <a:ext cx="5113110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Verify → Geo-match → Forecast demand → Allocate</a:t>
            </a:r>
            <a:endParaRPr lang="en-US" sz="12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3431084"/>
            <a:ext cx="5434373" cy="64264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22106" y="4210248"/>
            <a:ext cx="5113110" cy="263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Worker</a:t>
            </a:r>
            <a:endParaRPr lang="en-US" sz="1650" dirty="0"/>
          </a:p>
        </p:txBody>
      </p:sp>
      <p:sp>
        <p:nvSpPr>
          <p:cNvPr id="11" name="Text 6"/>
          <p:cNvSpPr/>
          <p:nvPr/>
        </p:nvSpPr>
        <p:spPr>
          <a:xfrm>
            <a:off x="822106" y="4555629"/>
            <a:ext cx="5113110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Profile → Accept → Complete → Get paid → Build history</a:t>
            </a:r>
            <a:endParaRPr lang="en-US" sz="12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848" y="3431084"/>
            <a:ext cx="5434373" cy="64264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256479" y="4210248"/>
            <a:ext cx="5113110" cy="263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Cooperative</a:t>
            </a:r>
            <a:endParaRPr lang="en-US" sz="1650" dirty="0"/>
          </a:p>
        </p:txBody>
      </p:sp>
      <p:sp>
        <p:nvSpPr>
          <p:cNvPr id="14" name="Text 8"/>
          <p:cNvSpPr/>
          <p:nvPr/>
        </p:nvSpPr>
        <p:spPr>
          <a:xfrm>
            <a:off x="6256479" y="4555629"/>
            <a:ext cx="5113110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Verify → Monitor → Payout → Resolve → Analyze</a:t>
            </a:r>
            <a:endParaRPr lang="en-US" sz="1250" dirty="0"/>
          </a:p>
        </p:txBody>
      </p:sp>
      <p:sp>
        <p:nvSpPr>
          <p:cNvPr id="15" name="Shape 9"/>
          <p:cNvSpPr/>
          <p:nvPr/>
        </p:nvSpPr>
        <p:spPr>
          <a:xfrm>
            <a:off x="661475" y="5107583"/>
            <a:ext cx="10868745" cy="1169591"/>
          </a:xfrm>
          <a:prstGeom prst="roundRect">
            <a:avLst>
              <a:gd name="adj" fmla="val 2061"/>
            </a:avLst>
          </a:prstGeom>
          <a:solidFill>
            <a:srgbClr val="F2EEEE"/>
          </a:solidFill>
          <a:ln/>
        </p:spPr>
      </p:sp>
      <p:sp>
        <p:nvSpPr>
          <p:cNvPr id="16" name="Shape 10"/>
          <p:cNvSpPr/>
          <p:nvPr/>
        </p:nvSpPr>
        <p:spPr>
          <a:xfrm>
            <a:off x="661475" y="5107583"/>
            <a:ext cx="5434373" cy="584795"/>
          </a:xfrm>
          <a:custGeom>
            <a:avLst/>
            <a:gdLst/>
            <a:ahLst/>
            <a:cxnLst/>
            <a:rect l="l" t="t" r="r" b="b"/>
            <a:pathLst>
              <a:path w="5434373" h="584795">
                <a:moveTo>
                  <a:pt x="20083" y="0"/>
                </a:moveTo>
                <a:lnTo>
                  <a:pt x="5434373" y="0"/>
                </a:lnTo>
                <a:lnTo>
                  <a:pt x="5434373" y="584795"/>
                </a:lnTo>
                <a:lnTo>
                  <a:pt x="0" y="584795"/>
                </a:lnTo>
                <a:lnTo>
                  <a:pt x="0" y="20084"/>
                </a:lnTo>
                <a:arcTo hR="20084" wR="20083" stAng="10800000" swAng="5400000"/>
                <a:close/>
              </a:path>
            </a:pathLst>
          </a:custGeom>
          <a:solidFill>
            <a:srgbClr val="F2EEEE"/>
          </a:solidFill>
          <a:ln/>
        </p:spPr>
      </p:sp>
      <p:sp>
        <p:nvSpPr>
          <p:cNvPr id="17" name="Text 11"/>
          <p:cNvSpPr/>
          <p:nvPr/>
        </p:nvSpPr>
        <p:spPr>
          <a:xfrm>
            <a:off x="822106" y="5268218"/>
            <a:ext cx="5113110" cy="263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Verified Workers</a:t>
            </a:r>
            <a:endParaRPr lang="en-US" sz="1650" dirty="0"/>
          </a:p>
        </p:txBody>
      </p:sp>
      <p:sp>
        <p:nvSpPr>
          <p:cNvPr id="18" name="Shape 12"/>
          <p:cNvSpPr/>
          <p:nvPr/>
        </p:nvSpPr>
        <p:spPr>
          <a:xfrm>
            <a:off x="6095848" y="5107583"/>
            <a:ext cx="5434373" cy="584795"/>
          </a:xfrm>
          <a:custGeom>
            <a:avLst/>
            <a:gdLst/>
            <a:ahLst/>
            <a:cxnLst/>
            <a:rect l="l" t="t" r="r" b="b"/>
            <a:pathLst>
              <a:path w="5434373" h="584795">
                <a:moveTo>
                  <a:pt x="0" y="0"/>
                </a:moveTo>
                <a:lnTo>
                  <a:pt x="5414289" y="0"/>
                </a:lnTo>
                <a:arcTo hR="20084" wR="20083" stAng="16200000" swAng="5400000"/>
                <a:lnTo>
                  <a:pt x="5434373" y="584795"/>
                </a:lnTo>
                <a:lnTo>
                  <a:pt x="0" y="584795"/>
                </a:lnTo>
                <a:lnTo>
                  <a:pt x="0" y="0"/>
                </a:lnTo>
                <a:close/>
              </a:path>
            </a:pathLst>
          </a:custGeom>
          <a:solidFill>
            <a:srgbClr val="F2EEEE"/>
          </a:solidFill>
          <a:ln/>
        </p:spPr>
      </p:sp>
      <p:sp>
        <p:nvSpPr>
          <p:cNvPr id="19" name="Shape 13"/>
          <p:cNvSpPr/>
          <p:nvPr/>
        </p:nvSpPr>
        <p:spPr>
          <a:xfrm>
            <a:off x="6095848" y="5107583"/>
            <a:ext cx="19050" cy="584795"/>
          </a:xfrm>
          <a:prstGeom prst="roundRect">
            <a:avLst>
              <a:gd name="adj" fmla="val 49999"/>
            </a:avLst>
          </a:prstGeom>
          <a:solidFill>
            <a:srgbClr val="D8D4D4"/>
          </a:solidFill>
          <a:ln/>
        </p:spPr>
      </p:sp>
      <p:sp>
        <p:nvSpPr>
          <p:cNvPr id="20" name="Text 14"/>
          <p:cNvSpPr/>
          <p:nvPr/>
        </p:nvSpPr>
        <p:spPr>
          <a:xfrm>
            <a:off x="6256479" y="5268218"/>
            <a:ext cx="5113110" cy="263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Cooperative Ownership</a:t>
            </a:r>
            <a:endParaRPr lang="en-US" sz="1650" dirty="0"/>
          </a:p>
        </p:txBody>
      </p:sp>
      <p:sp>
        <p:nvSpPr>
          <p:cNvPr id="21" name="Shape 15"/>
          <p:cNvSpPr/>
          <p:nvPr/>
        </p:nvSpPr>
        <p:spPr>
          <a:xfrm>
            <a:off x="661475" y="5692378"/>
            <a:ext cx="5434373" cy="584795"/>
          </a:xfrm>
          <a:custGeom>
            <a:avLst/>
            <a:gdLst/>
            <a:ahLst/>
            <a:cxnLst/>
            <a:rect l="l" t="t" r="r" b="b"/>
            <a:pathLst>
              <a:path w="5434373" h="584795">
                <a:moveTo>
                  <a:pt x="0" y="0"/>
                </a:moveTo>
                <a:lnTo>
                  <a:pt x="5434373" y="0"/>
                </a:lnTo>
                <a:lnTo>
                  <a:pt x="5434373" y="584795"/>
                </a:lnTo>
                <a:lnTo>
                  <a:pt x="20083" y="584795"/>
                </a:lnTo>
                <a:arcTo hR="20084" wR="20083" stAng="5400000" swAng="5400000"/>
                <a:lnTo>
                  <a:pt x="0" y="0"/>
                </a:lnTo>
                <a:close/>
              </a:path>
            </a:pathLst>
          </a:custGeom>
          <a:solidFill>
            <a:srgbClr val="F2EEEE"/>
          </a:solidFill>
          <a:ln/>
        </p:spPr>
      </p:sp>
      <p:sp>
        <p:nvSpPr>
          <p:cNvPr id="22" name="Shape 16"/>
          <p:cNvSpPr/>
          <p:nvPr/>
        </p:nvSpPr>
        <p:spPr>
          <a:xfrm>
            <a:off x="661475" y="5692378"/>
            <a:ext cx="5434373" cy="19050"/>
          </a:xfrm>
          <a:prstGeom prst="roundRect">
            <a:avLst>
              <a:gd name="adj" fmla="val 49999"/>
            </a:avLst>
          </a:prstGeom>
          <a:solidFill>
            <a:srgbClr val="D8D4D4"/>
          </a:solidFill>
          <a:ln/>
        </p:spPr>
      </p:sp>
      <p:sp>
        <p:nvSpPr>
          <p:cNvPr id="23" name="Text 17"/>
          <p:cNvSpPr/>
          <p:nvPr/>
        </p:nvSpPr>
        <p:spPr>
          <a:xfrm>
            <a:off x="822106" y="5853013"/>
            <a:ext cx="5113110" cy="263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Transparent Transactions</a:t>
            </a:r>
            <a:endParaRPr lang="en-US" sz="1650" dirty="0"/>
          </a:p>
        </p:txBody>
      </p:sp>
      <p:sp>
        <p:nvSpPr>
          <p:cNvPr id="24" name="Shape 18"/>
          <p:cNvSpPr/>
          <p:nvPr/>
        </p:nvSpPr>
        <p:spPr>
          <a:xfrm>
            <a:off x="6095848" y="5692378"/>
            <a:ext cx="5434373" cy="584795"/>
          </a:xfrm>
          <a:custGeom>
            <a:avLst/>
            <a:gdLst/>
            <a:ahLst/>
            <a:cxnLst/>
            <a:rect l="l" t="t" r="r" b="b"/>
            <a:pathLst>
              <a:path w="5434373" h="584795">
                <a:moveTo>
                  <a:pt x="0" y="0"/>
                </a:moveTo>
                <a:lnTo>
                  <a:pt x="5434373" y="0"/>
                </a:lnTo>
                <a:lnTo>
                  <a:pt x="5434373" y="564712"/>
                </a:lnTo>
                <a:arcTo hR="20084" wR="20083" stAng="0" swAng="5400000"/>
                <a:lnTo>
                  <a:pt x="0" y="584795"/>
                </a:lnTo>
                <a:lnTo>
                  <a:pt x="0" y="0"/>
                </a:lnTo>
                <a:close/>
              </a:path>
            </a:pathLst>
          </a:custGeom>
          <a:solidFill>
            <a:srgbClr val="F2EEEE"/>
          </a:solidFill>
          <a:ln/>
        </p:spPr>
      </p:sp>
      <p:sp>
        <p:nvSpPr>
          <p:cNvPr id="25" name="Shape 19"/>
          <p:cNvSpPr/>
          <p:nvPr/>
        </p:nvSpPr>
        <p:spPr>
          <a:xfrm>
            <a:off x="6095848" y="5692378"/>
            <a:ext cx="19050" cy="584795"/>
          </a:xfrm>
          <a:prstGeom prst="roundRect">
            <a:avLst>
              <a:gd name="adj" fmla="val 49999"/>
            </a:avLst>
          </a:prstGeom>
          <a:solidFill>
            <a:srgbClr val="D8D4D4"/>
          </a:solidFill>
          <a:ln/>
        </p:spPr>
      </p:sp>
      <p:sp>
        <p:nvSpPr>
          <p:cNvPr id="26" name="Shape 20"/>
          <p:cNvSpPr/>
          <p:nvPr/>
        </p:nvSpPr>
        <p:spPr>
          <a:xfrm>
            <a:off x="6095848" y="5692378"/>
            <a:ext cx="5434373" cy="19050"/>
          </a:xfrm>
          <a:prstGeom prst="roundRect">
            <a:avLst>
              <a:gd name="adj" fmla="val 49999"/>
            </a:avLst>
          </a:prstGeom>
          <a:solidFill>
            <a:srgbClr val="D8D4D4"/>
          </a:solidFill>
          <a:ln/>
        </p:spPr>
      </p:sp>
      <p:sp>
        <p:nvSpPr>
          <p:cNvPr id="27" name="Text 21"/>
          <p:cNvSpPr/>
          <p:nvPr/>
        </p:nvSpPr>
        <p:spPr>
          <a:xfrm>
            <a:off x="6256479" y="5853013"/>
            <a:ext cx="5113110" cy="263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Worker Welfare</a:t>
            </a:r>
            <a:endParaRPr lang="en-US" sz="1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18542"/>
            <a:ext cx="10868745" cy="527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The solution is backed by an actual project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61475" y="1587004"/>
            <a:ext cx="5801374" cy="263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GitHub Repository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661475" y="1987054"/>
            <a:ext cx="5801374" cy="145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5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https://github.com/your-team/skillsetu</a:t>
            </a:r>
            <a:endParaRPr lang="en-US" sz="4550" dirty="0"/>
          </a:p>
        </p:txBody>
      </p:sp>
      <p:sp>
        <p:nvSpPr>
          <p:cNvPr id="5" name="Text 3"/>
          <p:cNvSpPr/>
          <p:nvPr/>
        </p:nvSpPr>
        <p:spPr>
          <a:xfrm>
            <a:off x="661475" y="3578523"/>
            <a:ext cx="6410958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⚠</a:t>
            </a:r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E04F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PLACEHOLDER — REPLACE WITH ACTUAL REPOSITORY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61475" y="4009926"/>
            <a:ext cx="5801374" cy="19050"/>
          </a:xfrm>
          <a:prstGeom prst="roundRect">
            <a:avLst>
              <a:gd name="adj" fmla="val 49999"/>
            </a:avLst>
          </a:prstGeom>
          <a:solidFill>
            <a:srgbClr val="383838">
              <a:alpha val="5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661475" y="4222651"/>
            <a:ext cx="6410958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Source Code • Implementation • Documentation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861103" y="1587004"/>
            <a:ext cx="4675368" cy="263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Project Structure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6861103" y="2004120"/>
            <a:ext cx="2269374" cy="997148"/>
          </a:xfrm>
          <a:prstGeom prst="roundRect">
            <a:avLst>
              <a:gd name="adj" fmla="val 2417"/>
            </a:avLst>
          </a:prstGeom>
          <a:solidFill>
            <a:srgbClr val="FFFFFF"/>
          </a:solidFill>
          <a:ln w="19050">
            <a:solidFill>
              <a:srgbClr val="D8D4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40783" y="2183805"/>
            <a:ext cx="1910012" cy="263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mobile/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7040783" y="2583855"/>
            <a:ext cx="1910012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Customer &amp; worker apps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9266998" y="2004120"/>
            <a:ext cx="2269473" cy="997148"/>
          </a:xfrm>
          <a:prstGeom prst="roundRect">
            <a:avLst>
              <a:gd name="adj" fmla="val 2417"/>
            </a:avLst>
          </a:prstGeom>
          <a:solidFill>
            <a:srgbClr val="FFFFFF"/>
          </a:solidFill>
          <a:ln w="19050">
            <a:solidFill>
              <a:srgbClr val="D8D4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446679" y="2183805"/>
            <a:ext cx="1910112" cy="263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backend/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446679" y="2583855"/>
            <a:ext cx="1910112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APIs &amp; business logic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861103" y="3137793"/>
            <a:ext cx="2269374" cy="997148"/>
          </a:xfrm>
          <a:prstGeom prst="roundRect">
            <a:avLst>
              <a:gd name="adj" fmla="val 2417"/>
            </a:avLst>
          </a:prstGeom>
          <a:solidFill>
            <a:srgbClr val="FFFFFF"/>
          </a:solidFill>
          <a:ln w="19050">
            <a:solidFill>
              <a:srgbClr val="D8D4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40783" y="3317478"/>
            <a:ext cx="1910012" cy="263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ai/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7040783" y="3717528"/>
            <a:ext cx="1910012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Forecasting &amp; matching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9266998" y="3137793"/>
            <a:ext cx="2269473" cy="997148"/>
          </a:xfrm>
          <a:prstGeom prst="roundRect">
            <a:avLst>
              <a:gd name="adj" fmla="val 2417"/>
            </a:avLst>
          </a:prstGeom>
          <a:solidFill>
            <a:srgbClr val="FFFFFF"/>
          </a:solidFill>
          <a:ln w="19050">
            <a:solidFill>
              <a:srgbClr val="D8D4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446679" y="3317478"/>
            <a:ext cx="1910112" cy="263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database/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9446679" y="3717528"/>
            <a:ext cx="1910112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Schemas &amp; migrations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861103" y="4271466"/>
            <a:ext cx="4675368" cy="997148"/>
          </a:xfrm>
          <a:prstGeom prst="roundRect">
            <a:avLst>
              <a:gd name="adj" fmla="val 2417"/>
            </a:avLst>
          </a:prstGeom>
          <a:solidFill>
            <a:srgbClr val="FFFFFF"/>
          </a:solidFill>
          <a:ln w="19050">
            <a:solidFill>
              <a:srgbClr val="D8D4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40783" y="4451152"/>
            <a:ext cx="4316007" cy="263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admin-dashboard/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7040783" y="4851202"/>
            <a:ext cx="4316007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Federation management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861103" y="5422205"/>
            <a:ext cx="4675368" cy="563563"/>
          </a:xfrm>
          <a:prstGeom prst="roundRect">
            <a:avLst>
              <a:gd name="adj" fmla="val 4276"/>
            </a:avLst>
          </a:prstGeom>
          <a:solidFill>
            <a:srgbClr val="FFDECC"/>
          </a:solidFill>
          <a:ln/>
        </p:spPr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21734" y="5629672"/>
            <a:ext cx="200814" cy="160635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7383179" y="5585123"/>
            <a:ext cx="4602246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QR PLACEHOLDER — link to repository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89087"/>
            <a:ext cx="10868745" cy="558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 practical solution also needs to handle failure cases</a:t>
            </a:r>
            <a:endParaRPr lang="en-US" sz="3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1653480"/>
          <a:ext cx="9143771" cy="914400"/>
        </p:xfrm>
        <a:graphic>
          <a:graphicData uri="http://schemas.openxmlformats.org/drawingml/2006/table">
            <a:tbl>
              <a:tblPr/>
              <a:tblGrid>
                <a:gridCol w="4347498"/>
                <a:gridCol w="6521247"/>
              </a:tblGrid>
              <a:tr h="45798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83838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Potential Problem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70117" marR="170117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83838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Mitigation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70117" marR="170117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115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83838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Fake / incorrect worker information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70117" marR="170117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83838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Cooperative-backed identity and skill verification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70117" marR="170117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115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83838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Worker availability changes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70117" marR="170117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83838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Real-time availability updates and booking confirmation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70117" marR="170117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115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83838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Incorrect matching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70117" marR="170117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83838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Combine skill, service type, location, and availability — not distance alone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70117" marR="170117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115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83838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Low initial demand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70117" marR="170117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83838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Start with selected service categories and cooperative pilot regions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70117" marR="170117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115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83838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AI predictions are inaccurate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70117" marR="170117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83838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Treat forecasting as decision support; retain manual cooperative oversight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70117" marR="170117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115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83838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Payment disputes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70117" marR="170117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83838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Digital transaction records, invoices, and structured dispute handling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70117" marR="170117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115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83838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Privacy / location concerns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70117" marR="170117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83838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Collect only necessary data; apply role-based access to sensitive information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70117" marR="170117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65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83838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Emergency booking limitations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70117" marR="170117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83838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Distinguish emergency requests from ordinary bookings; prioritize appropriate available workers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70117" marR="170117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8262"/>
            <a:ext cx="10868745" cy="496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Designed to be feasible as an MVP and scalable as a platform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661475" y="1336774"/>
            <a:ext cx="5249930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1. Technical Feasibility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661475" y="1705769"/>
            <a:ext cx="5249930" cy="9795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spcAft>
                <a:spcPts val="850"/>
              </a:spcAft>
              <a:buNone/>
            </a:pPr>
            <a:r>
              <a:rPr lang="en-US" sz="11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Mobile App → Backend APIs → Cloud Database → Geo-Spatial Services → Digital Payments → AI / ML Services</a:t>
            </a:r>
            <a:endParaRPr lang="en-US" sz="11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Develop incrementally: start with verification, profiles, booking, and matching before introducing advanced intelligence.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286640" y="1336774"/>
            <a:ext cx="5249930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2. Operational Feasibility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6286640" y="1705769"/>
            <a:ext cx="5249930" cy="9795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spcAft>
                <a:spcPts val="850"/>
              </a:spcAft>
              <a:buNone/>
            </a:pPr>
            <a:r>
              <a:rPr lang="en-US" sz="11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Cooperative → Worker Verification → Service Marketplace → Customer → Transaction → Worker + Cooperative Records</a:t>
            </a:r>
            <a:endParaRPr lang="en-US" sz="11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cooperative remains an administrative layer — not removed from the workflow.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61475" y="2975570"/>
            <a:ext cx="10868745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3. Reliability Mechanisms</a:t>
            </a:r>
            <a:endParaRPr lang="en-US" sz="155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3404989"/>
            <a:ext cx="3542219" cy="58856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07928" y="3575248"/>
            <a:ext cx="3125511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Verified identities</a:t>
            </a:r>
            <a:endParaRPr lang="en-US" sz="15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24639" y="3404989"/>
            <a:ext cx="3542318" cy="58856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71092" y="3575248"/>
            <a:ext cx="3125610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Structured worker profiles</a:t>
            </a:r>
            <a:endParaRPr lang="en-US" sz="15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87902" y="3404989"/>
            <a:ext cx="3542318" cy="58856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234355" y="3575248"/>
            <a:ext cx="3125610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Digital transaction records</a:t>
            </a:r>
            <a:endParaRPr lang="en-US" sz="155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1475" y="4114502"/>
            <a:ext cx="3542219" cy="588566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907928" y="4284762"/>
            <a:ext cx="3125511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Availability validation</a:t>
            </a:r>
            <a:endParaRPr lang="en-US" sz="155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324639" y="4114502"/>
            <a:ext cx="3542318" cy="588566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4571092" y="4284762"/>
            <a:ext cx="3125610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Server-side data storage</a:t>
            </a:r>
            <a:endParaRPr lang="en-US" sz="155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987902" y="4114502"/>
            <a:ext cx="3542318" cy="588566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8234355" y="4284762"/>
            <a:ext cx="3125610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Human oversight for AI decisions</a:t>
            </a:r>
            <a:endParaRPr lang="en-US" sz="1550" dirty="0"/>
          </a:p>
        </p:txBody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61475" y="4824016"/>
            <a:ext cx="3542219" cy="836613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907928" y="4994275"/>
            <a:ext cx="3125511" cy="496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Audit-friendly administrative records</a:t>
            </a:r>
            <a:endParaRPr lang="en-US" sz="1550" dirty="0"/>
          </a:p>
        </p:txBody>
      </p:sp>
      <p:sp>
        <p:nvSpPr>
          <p:cNvPr id="22" name="Shape 13"/>
          <p:cNvSpPr/>
          <p:nvPr/>
        </p:nvSpPr>
        <p:spPr>
          <a:xfrm>
            <a:off x="661475" y="5796657"/>
            <a:ext cx="10868745" cy="523081"/>
          </a:xfrm>
          <a:prstGeom prst="roundRect">
            <a:avLst>
              <a:gd name="adj" fmla="val 4336"/>
            </a:avLst>
          </a:prstGeom>
          <a:solidFill>
            <a:srgbClr val="FFDECC"/>
          </a:solidFill>
          <a:ln/>
        </p:spPr>
      </p:sp>
      <p:pic>
        <p:nvPicPr>
          <p:cNvPr id="23" name="Image 7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12680" y="5969099"/>
            <a:ext cx="189007" cy="151209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1152893" y="5955407"/>
            <a:ext cx="10835706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MVP strategy:</a:t>
            </a:r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Build the deterministic transaction workflow first, then layer AI on top.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30659"/>
            <a:ext cx="10868745" cy="1198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Skilled workers already exist.</a:t>
            </a:r>
            <a:endParaRPr lang="en-US" sz="375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37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SkillSetu connects them to opportunity.</a:t>
            </a:r>
            <a:endParaRPr lang="en-US" sz="3750" dirty="0"/>
          </a:p>
        </p:txBody>
      </p:sp>
      <p:sp>
        <p:nvSpPr>
          <p:cNvPr id="3" name="Shape 1"/>
          <p:cNvSpPr/>
          <p:nvPr/>
        </p:nvSpPr>
        <p:spPr>
          <a:xfrm>
            <a:off x="661475" y="2247106"/>
            <a:ext cx="10868745" cy="19050"/>
          </a:xfrm>
          <a:prstGeom prst="roundRect">
            <a:avLst>
              <a:gd name="adj" fmla="val 49999"/>
            </a:avLst>
          </a:prstGeom>
          <a:solidFill>
            <a:srgbClr val="383838">
              <a:alpha val="50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91797" y="2403376"/>
            <a:ext cx="7608102" cy="333980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582444" y="4821631"/>
            <a:ext cx="1333616" cy="216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Foundations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3582444" y="5096651"/>
            <a:ext cx="1333616" cy="2802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9000"/>
              </a:lnSpc>
              <a:buNone/>
            </a:pPr>
            <a:r>
              <a:rPr lang="en-US" sz="1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Workers, co-ops, customers, tech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7326828" y="4770337"/>
            <a:ext cx="1333615" cy="216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Ecosystem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326828" y="5045356"/>
            <a:ext cx="1333615" cy="2802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9000"/>
              </a:lnSpc>
              <a:buNone/>
            </a:pPr>
            <a:r>
              <a:rPr lang="en-US" sz="1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Structured digital service network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465627" y="2753604"/>
            <a:ext cx="1333616" cy="2163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Verification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5465627" y="3028623"/>
            <a:ext cx="1333616" cy="2802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9000"/>
              </a:lnSpc>
              <a:buNone/>
            </a:pPr>
            <a:r>
              <a:rPr lang="en-US" sz="1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Certified and verified services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61475" y="5847358"/>
            <a:ext cx="11478330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E04F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Student Innovation Challenge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2026-09-22T11:31:20Z</dcterms:created>
  <dcterms:modified xsi:type="dcterms:W3CDTF">2026-09-22T11:31:20Z</dcterms:modified>
</cp:coreProperties>
</file>